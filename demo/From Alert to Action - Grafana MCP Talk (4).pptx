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7.png"/><Relationship Id="rId13" Type="http://schemas.openxmlformats.org/officeDocument/2006/relationships/image" Target="../media/image12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Relationship Id="rId4" Type="http://schemas.openxmlformats.org/officeDocument/2006/relationships/image" Target="../media/image32.png"/><Relationship Id="rId9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jp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7.png"/><Relationship Id="rId9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12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12.png"/><Relationship Id="rId5" Type="http://schemas.openxmlformats.org/officeDocument/2006/relationships/image" Target="../media/image53.png"/><Relationship Id="rId6" Type="http://schemas.openxmlformats.org/officeDocument/2006/relationships/image" Target="../media/image44.png"/><Relationship Id="rId7" Type="http://schemas.openxmlformats.org/officeDocument/2006/relationships/image" Target="../media/image5.png"/><Relationship Id="rId8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49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grad_violet_blue.jp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21375" y="0"/>
            <a:ext cx="12191700" cy="6858000"/>
          </a:xfrm>
          <a:prstGeom prst="roundRect">
            <a:avLst>
              <a:gd fmla="val 1600" name="adj"/>
            </a:avLst>
          </a:prstGeom>
          <a:solidFill>
            <a:srgbClr val="000000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640080"/>
            <a:ext cx="3657600" cy="457200"/>
          </a:xfrm>
          <a:prstGeom prst="roundRect">
            <a:avLst>
              <a:gd fmla="val 50000" name="adj"/>
            </a:avLst>
          </a:prstGeom>
          <a:solidFill>
            <a:srgbClr val="000000">
              <a:alpha val="45098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8330" y="6400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 •  MUMBAI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58380" y="1865815"/>
            <a:ext cx="10515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Alert to Action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8368" y="324612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6FF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E8E6FF"/>
                </a:solidFill>
                <a:latin typeface="Calibri"/>
                <a:ea typeface="Calibri"/>
                <a:cs typeface="Calibri"/>
                <a:sym typeface="Calibri"/>
              </a:rPr>
              <a:t>AI-Powered Incident Response with Grafana MCP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75" y="4389925"/>
            <a:ext cx="1929300" cy="1919400"/>
          </a:xfrm>
          <a:prstGeom prst="ellipse">
            <a:avLst/>
          </a:prstGeom>
          <a:solidFill>
            <a:srgbClr val="FF6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994925" y="4924525"/>
            <a:ext cx="57204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Afzal Hassan</a:t>
            </a:r>
            <a:b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 cap="none" strike="noStrike">
                <a:solidFill>
                  <a:srgbClr val="D9D6FF"/>
                </a:solidFill>
                <a:latin typeface="Calibri"/>
                <a:ea typeface="Calibri"/>
                <a:cs typeface="Calibri"/>
                <a:sym typeface="Calibri"/>
              </a:rPr>
              <a:t>DevOps Engineer, Sunfire Technologies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3" title="ba93845a-e3aa-4825-bad3-258fccf33a87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75" y="4390075"/>
            <a:ext cx="1947600" cy="1919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E31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About 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22948" y="1749738"/>
            <a:ext cx="2219700" cy="2182200"/>
          </a:xfrm>
          <a:prstGeom prst="ellipse">
            <a:avLst/>
          </a:prstGeom>
          <a:solidFill>
            <a:srgbClr val="FF6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61200" y="403581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Afzal Hassan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15100" y="4572025"/>
            <a:ext cx="3035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A9ADC1"/>
                </a:solidFill>
                <a:latin typeface="Calibri"/>
                <a:ea typeface="Calibri"/>
                <a:cs typeface="Calibri"/>
                <a:sym typeface="Calibri"/>
              </a:rPr>
              <a:t>DevOps Engineer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A9ADC1"/>
                </a:solidFill>
                <a:latin typeface="Calibri"/>
                <a:ea typeface="Calibri"/>
                <a:cs typeface="Calibri"/>
                <a:sym typeface="Calibri"/>
              </a:rPr>
              <a:t>Sunfire Technologies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846288" y="1855771"/>
            <a:ext cx="6492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Runs the EdgeOps Community — DevOps &amp; platform engineering mentorship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846320" y="2834640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Co-coordinator volunteer, CNCF Mumbai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846323" y="3703325"/>
            <a:ext cx="4454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Volunteer, Grafana &amp; Friends Mumbai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846323" y="4571888"/>
            <a:ext cx="341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github.com/iemafzalhassan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8912" y="6345936"/>
            <a:ext cx="91440" cy="91440"/>
          </a:xfrm>
          <a:prstGeom prst="ellipse">
            <a:avLst/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" name="Google Shape;40;p4" title="ba93845a-e3aa-4825-bad3-258fccf33a8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1769525"/>
            <a:ext cx="2219700" cy="2187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" name="Google Shape;41;p4" title="cloud-native-computing-foundation-logo-png_seeklogo-483600-removebg-preview.png"/>
          <p:cNvPicPr preferRelativeResize="0"/>
          <p:nvPr/>
        </p:nvPicPr>
        <p:blipFill rotWithShape="1">
          <a:blip r:embed="rId4">
            <a:alphaModFix/>
          </a:blip>
          <a:srcRect b="41883" l="3739" r="79761" t="41739"/>
          <a:stretch/>
        </p:blipFill>
        <p:spPr>
          <a:xfrm>
            <a:off x="4005850" y="2787125"/>
            <a:ext cx="640425" cy="632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ttings" id="42" name="Google Shape;42;p4" title="Setting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5838" y="18888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0438" y="4532246"/>
            <a:ext cx="640425" cy="64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1657" y="3636022"/>
            <a:ext cx="640425" cy="64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4" title="icons8-grafana-96__1_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grad_pink_orange.jpg" id="52" name="Google Shape;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fmla="val 1600" name="adj"/>
            </a:avLst>
          </a:prstGeom>
          <a:solidFill>
            <a:srgbClr val="00000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31520" y="91440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2:14 AM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777240" y="2743200"/>
            <a:ext cx="8686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PagerDuty rings.</a:t>
            </a:r>
            <a:b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 95%. Latency 4s.</a:t>
            </a:r>
            <a:b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Customers can't log in.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5" title="icons8-grafana-96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icon_question_orange.png" id="63" name="Google Shape;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368" y="196596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would you do?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914400" y="4114800"/>
            <a:ext cx="10360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9ADC1"/>
                </a:solidFill>
                <a:latin typeface="Calibri"/>
                <a:ea typeface="Calibri"/>
                <a:cs typeface="Calibri"/>
                <a:sym typeface="Calibri"/>
              </a:rPr>
              <a:t>Take ten seconds. Where do you click first?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38912" y="6345936"/>
            <a:ext cx="91440" cy="91440"/>
          </a:xfrm>
          <a:prstGeom prst="ellipse">
            <a:avLst/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6" title="icons8-grafana-96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E31"/>
                </a:solidFill>
                <a:latin typeface="Calibri"/>
                <a:ea typeface="Calibri"/>
                <a:cs typeface="Calibri"/>
                <a:sym typeface="Calibri"/>
              </a:rPr>
              <a:t>ACT 2 — THE INVESTIGATION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Traditional Incident Flow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40080" y="1965960"/>
            <a:ext cx="3246120" cy="1051560"/>
          </a:xfrm>
          <a:prstGeom prst="roundRect">
            <a:avLst>
              <a:gd fmla="val 869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2106338" y="2140075"/>
            <a:ext cx="11409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206240" y="1965960"/>
            <a:ext cx="3246120" cy="1051560"/>
          </a:xfrm>
          <a:prstGeom prst="roundRect">
            <a:avLst>
              <a:gd fmla="val 869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7772400" y="1965960"/>
            <a:ext cx="3246120" cy="1051560"/>
          </a:xfrm>
          <a:prstGeom prst="roundRect">
            <a:avLst>
              <a:gd fmla="val 869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640080" y="3337560"/>
            <a:ext cx="3246120" cy="1051560"/>
          </a:xfrm>
          <a:prstGeom prst="roundRect">
            <a:avLst>
              <a:gd fmla="val 869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1417320" y="333756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kubectl logs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206240" y="3337560"/>
            <a:ext cx="3246120" cy="1051560"/>
          </a:xfrm>
          <a:prstGeom prst="roundRect">
            <a:avLst>
              <a:gd fmla="val 869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4983480" y="333756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7772400" y="3337560"/>
            <a:ext cx="3246120" cy="1051560"/>
          </a:xfrm>
          <a:prstGeom prst="roundRect">
            <a:avLst>
              <a:gd fmla="val 869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8973602" y="3451886"/>
            <a:ext cx="1820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Loki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40080" y="4709160"/>
            <a:ext cx="3246120" cy="1051560"/>
          </a:xfrm>
          <a:prstGeom prst="roundRect">
            <a:avLst>
              <a:gd fmla="val 869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prometheus_orange.png" id="87" name="Google Shape;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501548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1417320" y="470916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206240" y="4709160"/>
            <a:ext cx="3246120" cy="1051560"/>
          </a:xfrm>
          <a:prstGeom prst="roundRect">
            <a:avLst>
              <a:gd fmla="val 869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5319275" y="4709150"/>
            <a:ext cx="20901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 teammate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7772400" y="4709160"/>
            <a:ext cx="3246120" cy="1051560"/>
          </a:xfrm>
          <a:prstGeom prst="roundRect">
            <a:avLst>
              <a:gd fmla="val 8696" name="adj"/>
            </a:avLst>
          </a:prstGeom>
          <a:solidFill>
            <a:srgbClr val="FF6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heck_navy.png" id="92" name="Google Shape;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3568" y="501548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/>
          <p:nvPr/>
        </p:nvSpPr>
        <p:spPr>
          <a:xfrm>
            <a:off x="8549640" y="470916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62B"/>
                </a:solidFill>
                <a:latin typeface="Calibri"/>
                <a:ea typeface="Calibri"/>
                <a:cs typeface="Calibri"/>
                <a:sym typeface="Calibri"/>
              </a:rPr>
              <a:t>Root Cause… finally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886200" y="2409444"/>
            <a:ext cx="32004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7452360" y="2409444"/>
            <a:ext cx="32004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9313164" y="3017520"/>
            <a:ext cx="164592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 rot="10800000">
            <a:off x="3886200" y="3781044"/>
            <a:ext cx="32004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 rot="10800000">
            <a:off x="7452360" y="3781044"/>
            <a:ext cx="32004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2180844" y="4389120"/>
            <a:ext cx="164592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3886200" y="5152644"/>
            <a:ext cx="32004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7452360" y="5152644"/>
            <a:ext cx="32004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9950" y="2142575"/>
            <a:ext cx="567675" cy="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5490138" y="2162938"/>
            <a:ext cx="11409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9575" y="2185038"/>
            <a:ext cx="567675" cy="56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34988" y="2186949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9060663" y="2140063"/>
            <a:ext cx="11409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8014" y="3567213"/>
            <a:ext cx="609599" cy="59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7650" y="3600451"/>
            <a:ext cx="609600" cy="496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69850" y="3579500"/>
            <a:ext cx="567675" cy="56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28988" y="48448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31064" y="4927213"/>
            <a:ext cx="567675" cy="56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7" title="icons8-grafana-96__1_-removebg-preview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2200"/>
              <a:buFont typeface="Calibri"/>
              <a:buNone/>
            </a:pPr>
            <a:r>
              <a:rPr b="0" i="0" lang="en-US" sz="3500" u="none" cap="none" strike="noStrike">
                <a:solidFill>
                  <a:srgbClr val="A9ADC1"/>
                </a:solidFill>
                <a:latin typeface="Calibri"/>
                <a:ea typeface="Calibri"/>
                <a:cs typeface="Calibri"/>
                <a:sym typeface="Calibri"/>
              </a:rPr>
              <a:t>Every engineer has seen this.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914400" y="2697480"/>
            <a:ext cx="10360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alert tells us something is wrong.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914400" y="3611880"/>
            <a:ext cx="1036015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5000"/>
              <a:buFont typeface="Arial"/>
              <a:buNone/>
            </a:pPr>
            <a:r>
              <a:rPr b="1" i="0" lang="en-US" sz="56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It never tells us WHY.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438912" y="6345936"/>
            <a:ext cx="91440" cy="91440"/>
          </a:xfrm>
          <a:prstGeom prst="ellipse">
            <a:avLst/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8" title="icons8-grafana-96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E31"/>
                </a:solidFill>
                <a:latin typeface="Calibri"/>
                <a:ea typeface="Calibri"/>
                <a:cs typeface="Calibri"/>
                <a:sym typeface="Calibri"/>
              </a:rPr>
              <a:t>ACT 2 — THE INVESTIGATION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Current 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40080" y="2011680"/>
            <a:ext cx="2514600" cy="1737360"/>
          </a:xfrm>
          <a:prstGeom prst="roundRect">
            <a:avLst>
              <a:gd fmla="val 631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640080" y="306324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410712" y="2011680"/>
            <a:ext cx="2514600" cy="1737360"/>
          </a:xfrm>
          <a:prstGeom prst="roundRect">
            <a:avLst>
              <a:gd fmla="val 631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3410712" y="306324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181344" y="2011680"/>
            <a:ext cx="2514600" cy="1737360"/>
          </a:xfrm>
          <a:prstGeom prst="roundRect">
            <a:avLst>
              <a:gd fmla="val 631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6181344" y="306324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Loki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8951976" y="2011680"/>
            <a:ext cx="2514600" cy="1737360"/>
          </a:xfrm>
          <a:prstGeom prst="roundRect">
            <a:avLst>
              <a:gd fmla="val 631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8951976" y="306324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40080" y="4005072"/>
            <a:ext cx="2514600" cy="1737360"/>
          </a:xfrm>
          <a:prstGeom prst="roundRect">
            <a:avLst>
              <a:gd fmla="val 631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640080" y="50566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Kubernetes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410712" y="4005072"/>
            <a:ext cx="2514600" cy="1737360"/>
          </a:xfrm>
          <a:prstGeom prst="roundRect">
            <a:avLst>
              <a:gd fmla="val 631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3410712" y="50566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Jenkins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181344" y="4005072"/>
            <a:ext cx="2514600" cy="1737360"/>
          </a:xfrm>
          <a:prstGeom prst="roundRect">
            <a:avLst>
              <a:gd fmla="val 631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6181344" y="50566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8951976" y="4005072"/>
            <a:ext cx="2514600" cy="1737360"/>
          </a:xfrm>
          <a:prstGeom prst="roundRect">
            <a:avLst>
              <a:gd fmla="val 631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8951976" y="50566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38912" y="6345936"/>
            <a:ext cx="91440" cy="91440"/>
          </a:xfrm>
          <a:prstGeom prst="ellipse">
            <a:avLst/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9" title="icons8-grafana-96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775" y="2324362"/>
            <a:ext cx="717800" cy="677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4550" y="2304300"/>
            <a:ext cx="717800" cy="7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0709" y="2304300"/>
            <a:ext cx="717800" cy="7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21439" y="2431875"/>
            <a:ext cx="775650" cy="63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38464" y="4359250"/>
            <a:ext cx="717800" cy="697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4568" y="4284825"/>
            <a:ext cx="609600" cy="843551"/>
          </a:xfrm>
          <a:prstGeom prst="rect">
            <a:avLst/>
          </a:prstGeom>
          <a:solidFill>
            <a:srgbClr val="1E2140"/>
          </a:solidFill>
          <a:ln>
            <a:noFill/>
          </a:ln>
        </p:spPr>
      </p:pic>
      <p:pic>
        <p:nvPicPr>
          <p:cNvPr id="155" name="Google Shape;155;p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50813" y="4284825"/>
            <a:ext cx="775651" cy="77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97800" y="4295125"/>
            <a:ext cx="822950" cy="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9" title="icons8-grafana-96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grad_violet_blue.jpg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fmla="val 1600" name="adj"/>
            </a:avLst>
          </a:prstGeom>
          <a:solidFill>
            <a:srgbClr val="000000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2691125" y="2092425"/>
            <a:ext cx="680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1FF"/>
              </a:buClr>
              <a:buSzPts val="2600"/>
              <a:buFont typeface="Calibri"/>
              <a:buNone/>
            </a:pPr>
            <a:r>
              <a:rPr b="0" i="1" lang="en-US" sz="3400" u="none" cap="none" strike="noStrike">
                <a:solidFill>
                  <a:srgbClr val="E6E1FF"/>
                </a:solidFill>
                <a:latin typeface="Calibri"/>
                <a:ea typeface="Calibri"/>
                <a:cs typeface="Calibri"/>
                <a:sym typeface="Calibri"/>
              </a:rPr>
              <a:t>What if…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731520" y="2880360"/>
            <a:ext cx="107259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Grafana itself could investigate?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0" title="icons8-grafana-96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0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E31"/>
                </a:solidFill>
                <a:latin typeface="Calibri"/>
                <a:ea typeface="Calibri"/>
                <a:cs typeface="Calibri"/>
                <a:sym typeface="Calibri"/>
              </a:rPr>
              <a:t>ACT 3 — THE SHIFT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Enter MCP — Model Context Protocol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640080" y="2011680"/>
            <a:ext cx="4846320" cy="3566160"/>
          </a:xfrm>
          <a:prstGeom prst="roundRect">
            <a:avLst>
              <a:gd fmla="val 4103" name="adj"/>
            </a:avLst>
          </a:prstGeom>
          <a:solidFill>
            <a:srgbClr val="FF6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plug_navy.png" id="178" name="Google Shape;1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3317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1"/>
          <p:cNvSpPr/>
          <p:nvPr/>
        </p:nvSpPr>
        <p:spPr>
          <a:xfrm>
            <a:off x="960120" y="31089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A2000"/>
                </a:solidFill>
                <a:latin typeface="Calibri"/>
                <a:ea typeface="Calibri"/>
                <a:cs typeface="Calibri"/>
                <a:sym typeface="Calibri"/>
              </a:rPr>
              <a:t>Think: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960120" y="35204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4162B"/>
                </a:solidFill>
                <a:latin typeface="Arial"/>
                <a:ea typeface="Arial"/>
                <a:cs typeface="Arial"/>
                <a:sym typeface="Arial"/>
              </a:rPr>
              <a:t>USB-C for AI.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960120" y="484632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3A2000"/>
                </a:solidFill>
                <a:latin typeface="Calibri"/>
                <a:ea typeface="Calibri"/>
                <a:cs typeface="Calibri"/>
                <a:sym typeface="Calibri"/>
              </a:rPr>
              <a:t>One connector. Any device. Any tool.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5852160" y="2148840"/>
            <a:ext cx="502920" cy="502920"/>
          </a:xfrm>
          <a:prstGeom prst="ellipse">
            <a:avLst/>
          </a:prstGeom>
          <a:solidFill>
            <a:srgbClr val="26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heck_green.png" id="183" name="Google Shape;18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1032" y="22722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/>
          <p:nvPr/>
        </p:nvSpPr>
        <p:spPr>
          <a:xfrm>
            <a:off x="6537960" y="21488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protocol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852160" y="2926080"/>
            <a:ext cx="502920" cy="502920"/>
          </a:xfrm>
          <a:prstGeom prst="ellipse">
            <a:avLst/>
          </a:prstGeom>
          <a:solidFill>
            <a:srgbClr val="26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heck_green.png" id="186" name="Google Shape;1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1032" y="30495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6537960" y="292608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tools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852160" y="3703320"/>
            <a:ext cx="502920" cy="502920"/>
          </a:xfrm>
          <a:prstGeom prst="ellipse">
            <a:avLst/>
          </a:prstGeom>
          <a:solidFill>
            <a:srgbClr val="26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heck_green.png" id="189" name="Google Shape;1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1032" y="38267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6537960" y="37033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LLM ↔ any data source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537960" y="457200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9ADC1"/>
                </a:solidFill>
                <a:latin typeface="Calibri"/>
                <a:ea typeface="Calibri"/>
                <a:cs typeface="Calibri"/>
                <a:sym typeface="Calibri"/>
              </a:rPr>
              <a:t>MCP gives an LLM a standard way to call real tools — dashboards, logs, traces, tickets, repos — instead of guessing from a prompt alone.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1" title="icons8-grafana-96__1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E31"/>
                </a:solidFill>
                <a:latin typeface="Calibri"/>
                <a:ea typeface="Calibri"/>
                <a:cs typeface="Calibri"/>
                <a:sym typeface="Calibri"/>
              </a:rPr>
              <a:t>ACT 3 — THE SHIFT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It Fits Together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4541368" y="1600200"/>
            <a:ext cx="3108960" cy="594360"/>
          </a:xfrm>
          <a:prstGeom prst="roundRect">
            <a:avLst>
              <a:gd fmla="val 15385" name="adj"/>
            </a:avLst>
          </a:prstGeom>
          <a:solidFill>
            <a:srgbClr val="8C4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4541368" y="16002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You, in Grafana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6004408" y="2240280"/>
            <a:ext cx="182880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175608" y="2651760"/>
            <a:ext cx="3840480" cy="777240"/>
          </a:xfrm>
          <a:prstGeom prst="roundRect">
            <a:avLst>
              <a:gd fmla="val 14118" name="adj"/>
            </a:avLst>
          </a:prstGeom>
          <a:solidFill>
            <a:srgbClr val="FF6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4175608" y="265176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4162B"/>
                </a:solidFill>
                <a:latin typeface="Arial"/>
                <a:ea typeface="Arial"/>
                <a:cs typeface="Arial"/>
                <a:sym typeface="Arial"/>
              </a:rPr>
              <a:t>MCP Server  ↔  LLM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12"/>
          <p:cNvCxnSpPr/>
          <p:nvPr/>
        </p:nvCxnSpPr>
        <p:spPr>
          <a:xfrm>
            <a:off x="9113368" y="1874520"/>
            <a:ext cx="0" cy="123444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7" name="Google Shape;207;p12"/>
          <p:cNvSpPr/>
          <p:nvPr/>
        </p:nvSpPr>
        <p:spPr>
          <a:xfrm>
            <a:off x="9031072" y="1783080"/>
            <a:ext cx="164592" cy="256032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9296248" y="196596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answers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come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2"/>
          <p:cNvCxnSpPr/>
          <p:nvPr/>
        </p:nvCxnSpPr>
        <p:spPr>
          <a:xfrm>
            <a:off x="6126804" y="3440906"/>
            <a:ext cx="0" cy="502800"/>
          </a:xfrm>
          <a:prstGeom prst="straightConnector1">
            <a:avLst/>
          </a:prstGeom>
          <a:noFill/>
          <a:ln cap="flat" cmpd="sng" w="25400">
            <a:solidFill>
              <a:srgbClr val="A9ADC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12"/>
          <p:cNvCxnSpPr/>
          <p:nvPr/>
        </p:nvCxnSpPr>
        <p:spPr>
          <a:xfrm flipH="1" rot="10800000">
            <a:off x="1549241" y="3940826"/>
            <a:ext cx="9154500" cy="3000"/>
          </a:xfrm>
          <a:prstGeom prst="straightConnector1">
            <a:avLst/>
          </a:prstGeom>
          <a:noFill/>
          <a:ln cap="flat" cmpd="sng" w="19050">
            <a:solidFill>
              <a:srgbClr val="A9AD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12"/>
          <p:cNvSpPr/>
          <p:nvPr/>
        </p:nvSpPr>
        <p:spPr>
          <a:xfrm>
            <a:off x="5772951" y="3918109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100"/>
              <a:buFont typeface="Courier New"/>
              <a:buNone/>
            </a:pPr>
            <a:r>
              <a:rPr b="1" i="0" lang="en-US" sz="1800" u="none" cap="none" strike="noStrike">
                <a:solidFill>
                  <a:srgbClr val="A9ADC1"/>
                </a:solidFill>
                <a:latin typeface="Courier New"/>
                <a:ea typeface="Courier New"/>
                <a:cs typeface="Courier New"/>
                <a:sym typeface="Courier New"/>
              </a:rPr>
              <a:t>MCP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2"/>
          <p:cNvCxnSpPr/>
          <p:nvPr/>
        </p:nvCxnSpPr>
        <p:spPr>
          <a:xfrm>
            <a:off x="2570169" y="3943826"/>
            <a:ext cx="0" cy="320100"/>
          </a:xfrm>
          <a:prstGeom prst="straightConnector1">
            <a:avLst/>
          </a:prstGeom>
          <a:noFill/>
          <a:ln cap="flat" cmpd="sng" w="12700">
            <a:solidFill>
              <a:srgbClr val="A9AD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2"/>
          <p:cNvSpPr/>
          <p:nvPr/>
        </p:nvSpPr>
        <p:spPr>
          <a:xfrm>
            <a:off x="1971237" y="4263866"/>
            <a:ext cx="1197900" cy="1234500"/>
          </a:xfrm>
          <a:prstGeom prst="roundRect">
            <a:avLst>
              <a:gd fmla="val 7634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952949" y="494966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2"/>
          <p:cNvCxnSpPr/>
          <p:nvPr/>
        </p:nvCxnSpPr>
        <p:spPr>
          <a:xfrm>
            <a:off x="3987489" y="3943826"/>
            <a:ext cx="0" cy="320100"/>
          </a:xfrm>
          <a:prstGeom prst="straightConnector1">
            <a:avLst/>
          </a:prstGeom>
          <a:noFill/>
          <a:ln cap="flat" cmpd="sng" w="12700">
            <a:solidFill>
              <a:srgbClr val="A9AD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12"/>
          <p:cNvSpPr/>
          <p:nvPr/>
        </p:nvSpPr>
        <p:spPr>
          <a:xfrm>
            <a:off x="3388557" y="4263866"/>
            <a:ext cx="1197900" cy="1234500"/>
          </a:xfrm>
          <a:prstGeom prst="roundRect">
            <a:avLst>
              <a:gd fmla="val 7634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3370269" y="494966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Loki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2"/>
          <p:cNvCxnSpPr/>
          <p:nvPr/>
        </p:nvCxnSpPr>
        <p:spPr>
          <a:xfrm>
            <a:off x="5404809" y="3943826"/>
            <a:ext cx="0" cy="320100"/>
          </a:xfrm>
          <a:prstGeom prst="straightConnector1">
            <a:avLst/>
          </a:prstGeom>
          <a:noFill/>
          <a:ln cap="flat" cmpd="sng" w="12700">
            <a:solidFill>
              <a:srgbClr val="A9AD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2"/>
          <p:cNvSpPr/>
          <p:nvPr/>
        </p:nvSpPr>
        <p:spPr>
          <a:xfrm>
            <a:off x="4805877" y="4263866"/>
            <a:ext cx="1197900" cy="1234500"/>
          </a:xfrm>
          <a:prstGeom prst="roundRect">
            <a:avLst>
              <a:gd fmla="val 7634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4787589" y="494966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12"/>
          <p:cNvCxnSpPr/>
          <p:nvPr/>
        </p:nvCxnSpPr>
        <p:spPr>
          <a:xfrm>
            <a:off x="6824511" y="3943826"/>
            <a:ext cx="0" cy="320100"/>
          </a:xfrm>
          <a:prstGeom prst="straightConnector1">
            <a:avLst/>
          </a:prstGeom>
          <a:noFill/>
          <a:ln cap="flat" cmpd="sng" w="12700">
            <a:solidFill>
              <a:srgbClr val="A9AD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2"/>
          <p:cNvSpPr/>
          <p:nvPr/>
        </p:nvSpPr>
        <p:spPr>
          <a:xfrm>
            <a:off x="6223197" y="4263866"/>
            <a:ext cx="1197900" cy="1234500"/>
          </a:xfrm>
          <a:prstGeom prst="roundRect">
            <a:avLst>
              <a:gd fmla="val 7634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6204909" y="494966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Kubernetes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2"/>
          <p:cNvCxnSpPr/>
          <p:nvPr/>
        </p:nvCxnSpPr>
        <p:spPr>
          <a:xfrm>
            <a:off x="8239449" y="3943826"/>
            <a:ext cx="0" cy="320100"/>
          </a:xfrm>
          <a:prstGeom prst="straightConnector1">
            <a:avLst/>
          </a:prstGeom>
          <a:noFill/>
          <a:ln cap="flat" cmpd="sng" w="12700">
            <a:solidFill>
              <a:srgbClr val="A9AD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2"/>
          <p:cNvSpPr/>
          <p:nvPr/>
        </p:nvSpPr>
        <p:spPr>
          <a:xfrm>
            <a:off x="7640517" y="4263866"/>
            <a:ext cx="1197900" cy="1234500"/>
          </a:xfrm>
          <a:prstGeom prst="roundRect">
            <a:avLst>
              <a:gd fmla="val 7634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7622229" y="494966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2"/>
          <p:cNvCxnSpPr/>
          <p:nvPr/>
        </p:nvCxnSpPr>
        <p:spPr>
          <a:xfrm>
            <a:off x="9656769" y="3943826"/>
            <a:ext cx="0" cy="320100"/>
          </a:xfrm>
          <a:prstGeom prst="straightConnector1">
            <a:avLst/>
          </a:prstGeom>
          <a:noFill/>
          <a:ln cap="flat" cmpd="sng" w="12700">
            <a:solidFill>
              <a:srgbClr val="A9AD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2"/>
          <p:cNvSpPr/>
          <p:nvPr/>
        </p:nvSpPr>
        <p:spPr>
          <a:xfrm>
            <a:off x="9057837" y="4263866"/>
            <a:ext cx="1197900" cy="1234500"/>
          </a:xfrm>
          <a:prstGeom prst="roundRect">
            <a:avLst>
              <a:gd fmla="val 7634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9039549" y="494966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38912" y="6345936"/>
            <a:ext cx="91440" cy="91440"/>
          </a:xfrm>
          <a:prstGeom prst="ellipse">
            <a:avLst/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718" y="4414732"/>
            <a:ext cx="502925" cy="50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2"/>
          <p:cNvPicPr preferRelativeResize="0"/>
          <p:nvPr/>
        </p:nvPicPr>
        <p:blipFill rotWithShape="1">
          <a:blip r:embed="rId4">
            <a:alphaModFix/>
          </a:blip>
          <a:srcRect b="24191" l="31615" r="29561" t="0"/>
          <a:stretch/>
        </p:blipFill>
        <p:spPr>
          <a:xfrm>
            <a:off x="3704005" y="4375981"/>
            <a:ext cx="502925" cy="580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2394" y="4446755"/>
            <a:ext cx="609600" cy="49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7331" y="4370077"/>
            <a:ext cx="609599" cy="592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87981" y="4450544"/>
            <a:ext cx="502925" cy="50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07337" y="4395788"/>
            <a:ext cx="502925" cy="502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2" title="icons8-grafana-96__1_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grad_pink_orange.jpg" id="244" name="Google Shape;2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3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fmla="val 1600" name="adj"/>
            </a:avLst>
          </a:prstGeom>
          <a:solidFill>
            <a:srgbClr val="000000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3D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E3D0"/>
                </a:solidFill>
                <a:latin typeface="Calibri"/>
                <a:ea typeface="Calibri"/>
                <a:cs typeface="Calibri"/>
                <a:sym typeface="Calibri"/>
              </a:rPr>
              <a:t>ACT 4 — LIVE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731520" y="86868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Incident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792328" y="2743200"/>
            <a:ext cx="3291840" cy="2377440"/>
          </a:xfrm>
          <a:prstGeom prst="roundRect">
            <a:avLst>
              <a:gd fmla="val 5385" name="adj"/>
            </a:avLst>
          </a:prstGeom>
          <a:solidFill>
            <a:srgbClr val="000000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792328" y="29718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792328" y="44348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3D0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FFE3D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4449928" y="2743200"/>
            <a:ext cx="3291840" cy="2377440"/>
          </a:xfrm>
          <a:prstGeom prst="roundRect">
            <a:avLst>
              <a:gd fmla="val 5385" name="adj"/>
            </a:avLst>
          </a:prstGeom>
          <a:solidFill>
            <a:srgbClr val="000000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4449928" y="29718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4.2s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4449928" y="44348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3D0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FFE3D0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8107528" y="2743200"/>
            <a:ext cx="3291840" cy="2377440"/>
          </a:xfrm>
          <a:prstGeom prst="roundRect">
            <a:avLst>
              <a:gd fmla="val 5385" name="adj"/>
            </a:avLst>
          </a:prstGeom>
          <a:solidFill>
            <a:srgbClr val="000000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8107528" y="29718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8107528" y="44348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3D0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FFE3D0"/>
                </a:solidFill>
                <a:latin typeface="Calibri"/>
                <a:ea typeface="Calibri"/>
                <a:cs typeface="Calibri"/>
                <a:sym typeface="Calibri"/>
              </a:rPr>
              <a:t>ERROR RATE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3" title="icons8-grafana-96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Ways to Spend Your 2 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640080" y="1417320"/>
            <a:ext cx="5120640" cy="548640"/>
          </a:xfrm>
          <a:prstGeom prst="roundRect">
            <a:avLst>
              <a:gd fmla="val 13333" name="adj"/>
            </a:avLst>
          </a:prstGeom>
          <a:solidFill>
            <a:srgbClr val="F545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640080" y="141732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Traditional Engineer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640080" y="2103120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868680" y="2103120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 metrics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3127248" y="2601468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640080" y="2670048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868680" y="2670048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 logs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3127248" y="3168396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640080" y="3236976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868680" y="3236976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 requests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3127248" y="3735324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640080" y="3803904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868680" y="3803904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 deployment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3127248" y="4302252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640080" y="4370832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868680" y="4370832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 through GitHub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3127248" y="4869180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640080" y="4937760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868680" y="4937760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 on Slack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3127248" y="5436108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640080" y="5504688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F545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868680" y="5504688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Finally understand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263640" y="1417320"/>
            <a:ext cx="5120640" cy="548640"/>
          </a:xfrm>
          <a:prstGeom prst="roundRect">
            <a:avLst>
              <a:gd fmla="val 13333" name="adj"/>
            </a:avLst>
          </a:prstGeom>
          <a:solidFill>
            <a:srgbClr val="3DD5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6263640" y="141732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AI-Assisted Engineer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6263640" y="2103120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6492240" y="2103120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 fires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8750808" y="2601468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6263640" y="2670048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6492240" y="2670048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 MCP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8750808" y="3168396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6263640" y="3236976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6492240" y="3236976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8750808" y="3735324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6263640" y="3803904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6492240" y="3803904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Suggested fix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8750808" y="4302252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6263640" y="4370832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6492240" y="4370832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PR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8750808" y="4869180"/>
            <a:ext cx="146304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A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6263640" y="4937760"/>
            <a:ext cx="5120640" cy="493776"/>
          </a:xfrm>
          <a:prstGeom prst="roundRect">
            <a:avLst>
              <a:gd fmla="val 14815" name="adj"/>
            </a:avLst>
          </a:prstGeom>
          <a:solidFill>
            <a:srgbClr val="3DD5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6492240" y="4937760"/>
            <a:ext cx="4663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438912" y="6345936"/>
            <a:ext cx="91440" cy="91440"/>
          </a:xfrm>
          <a:prstGeom prst="ellipse">
            <a:avLst/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14" title="icons8-grafana-96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4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grad_violet_blue.jpg" id="314" name="Google Shape;3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5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fmla="val 1600" name="adj"/>
            </a:avLst>
          </a:prstGeom>
          <a:solidFill>
            <a:srgbClr val="000000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914400" y="2468880"/>
            <a:ext cx="1036015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1FF"/>
              </a:buClr>
              <a:buSzPts val="1800"/>
              <a:buFont typeface="Courier New"/>
              <a:buNone/>
            </a:pPr>
            <a:r>
              <a:rPr b="0" i="0" lang="en-US" sz="3000" u="none" cap="none" strike="noStrike">
                <a:solidFill>
                  <a:srgbClr val="E6E1FF"/>
                </a:solidFill>
                <a:latin typeface="Courier New"/>
                <a:ea typeface="Courier New"/>
                <a:cs typeface="Courier New"/>
                <a:sym typeface="Courier New"/>
              </a:rPr>
              <a:t>Antigravity  +  Grafana MCP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5" title="icons8-grafana-96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E31"/>
                </a:solidFill>
                <a:latin typeface="Calibri"/>
                <a:ea typeface="Calibri"/>
                <a:cs typeface="Calibri"/>
                <a:sym typeface="Calibri"/>
              </a:rPr>
              <a:t>ACT 4 — LIVE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Conversation, Not Ten Tabs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640080" y="1965960"/>
            <a:ext cx="5166360" cy="777240"/>
          </a:xfrm>
          <a:prstGeom prst="roundRect">
            <a:avLst>
              <a:gd fmla="val 11765" name="adj"/>
            </a:avLst>
          </a:prstGeom>
          <a:solidFill>
            <a:srgbClr val="1E2140"/>
          </a:solidFill>
          <a:ln cap="flat" cmpd="sng" w="12700">
            <a:solidFill>
              <a:srgbClr val="FF6E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777240" y="196596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1325880" y="1965960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"Why is checkout service failing?"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640080" y="2907792"/>
            <a:ext cx="5166360" cy="777240"/>
          </a:xfrm>
          <a:prstGeom prst="roundRect">
            <a:avLst>
              <a:gd fmla="val 11765" name="adj"/>
            </a:avLst>
          </a:prstGeom>
          <a:solidFill>
            <a:srgbClr val="1E2140"/>
          </a:solidFill>
          <a:ln cap="flat" cmpd="sng" w="12700">
            <a:solidFill>
              <a:srgbClr val="FF6E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777240" y="2907792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1325880" y="2907792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"Show traces"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640080" y="3849624"/>
            <a:ext cx="5166360" cy="777240"/>
          </a:xfrm>
          <a:prstGeom prst="roundRect">
            <a:avLst>
              <a:gd fmla="val 11765" name="adj"/>
            </a:avLst>
          </a:prstGeom>
          <a:solidFill>
            <a:srgbClr val="1E2140"/>
          </a:solidFill>
          <a:ln cap="flat" cmpd="sng" w="12700">
            <a:solidFill>
              <a:srgbClr val="FF6E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777240" y="3849624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1325880" y="3849624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"What changed?"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6080760" y="1965960"/>
            <a:ext cx="5166360" cy="777240"/>
          </a:xfrm>
          <a:prstGeom prst="roundRect">
            <a:avLst>
              <a:gd fmla="val 11765" name="adj"/>
            </a:avLst>
          </a:prstGeom>
          <a:solidFill>
            <a:srgbClr val="1E2140"/>
          </a:solidFill>
          <a:ln cap="flat" cmpd="sng" w="12700">
            <a:solidFill>
              <a:srgbClr val="FF6E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6217920" y="196596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6766560" y="1965960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"Show deployment"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6080760" y="2907792"/>
            <a:ext cx="5166360" cy="777240"/>
          </a:xfrm>
          <a:prstGeom prst="roundRect">
            <a:avLst>
              <a:gd fmla="val 11765" name="adj"/>
            </a:avLst>
          </a:prstGeom>
          <a:solidFill>
            <a:srgbClr val="1E2140"/>
          </a:solidFill>
          <a:ln cap="flat" cmpd="sng" w="12700">
            <a:solidFill>
              <a:srgbClr val="FF6E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6217920" y="2907792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6766560" y="2907792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"Open GitHub commit"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6080760" y="3849624"/>
            <a:ext cx="5166360" cy="777240"/>
          </a:xfrm>
          <a:prstGeom prst="roundRect">
            <a:avLst>
              <a:gd fmla="val 11765" name="adj"/>
            </a:avLst>
          </a:prstGeom>
          <a:solidFill>
            <a:srgbClr val="1E2140"/>
          </a:solidFill>
          <a:ln cap="flat" cmpd="sng" w="12700">
            <a:solidFill>
              <a:srgbClr val="FF6E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6217920" y="3849624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6766560" y="3849624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"Summarize incident"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16" title="icons8-grafana-96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6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E31"/>
                </a:solidFill>
                <a:latin typeface="Calibri"/>
                <a:ea typeface="Calibri"/>
                <a:cs typeface="Calibri"/>
                <a:sym typeface="Calibri"/>
              </a:rPr>
              <a:t>ACT 5 — THE PAYOFF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 Time to Resolution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640080" y="233172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9ADC1"/>
                </a:solidFill>
                <a:latin typeface="Calibri"/>
                <a:ea typeface="Calibri"/>
                <a:cs typeface="Calibri"/>
                <a:sym typeface="Calibri"/>
              </a:rPr>
              <a:t>Traditional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4206240" y="2331720"/>
            <a:ext cx="6217920" cy="822960"/>
          </a:xfrm>
          <a:prstGeom prst="roundRect">
            <a:avLst>
              <a:gd fmla="val 8889" name="adj"/>
            </a:avLst>
          </a:prstGeom>
          <a:solidFill>
            <a:srgbClr val="F545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4434840" y="23317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45 min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640080" y="361188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9ADC1"/>
                </a:solidFill>
                <a:latin typeface="Calibri"/>
                <a:ea typeface="Calibri"/>
                <a:cs typeface="Calibri"/>
                <a:sym typeface="Calibri"/>
              </a:rPr>
              <a:t>AI-Assisted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4206240" y="3611880"/>
            <a:ext cx="1645920" cy="822960"/>
          </a:xfrm>
          <a:prstGeom prst="roundRect">
            <a:avLst>
              <a:gd fmla="val 8889" name="adj"/>
            </a:avLst>
          </a:prstGeom>
          <a:solidFill>
            <a:srgbClr val="3DD5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4434840" y="361188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4162B"/>
                </a:solidFill>
                <a:latin typeface="Arial"/>
                <a:ea typeface="Arial"/>
                <a:cs typeface="Arial"/>
                <a:sym typeface="Arial"/>
              </a:rPr>
              <a:t>8 min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4434840" y="4892040"/>
            <a:ext cx="3291840" cy="1005840"/>
          </a:xfrm>
          <a:prstGeom prst="roundRect">
            <a:avLst>
              <a:gd fmla="val 50000" name="adj"/>
            </a:avLst>
          </a:prstGeom>
          <a:solidFill>
            <a:srgbClr val="FF6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4434840" y="489204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4162B"/>
                </a:solidFill>
                <a:latin typeface="Arial"/>
                <a:ea typeface="Arial"/>
                <a:cs typeface="Arial"/>
                <a:sym typeface="Arial"/>
              </a:rPr>
              <a:t>−82% MTTR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17" title="icons8-grafana-96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7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grad_orange.jpg" id="369" name="Google Shape;3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8"/>
          <p:cNvSpPr/>
          <p:nvPr/>
        </p:nvSpPr>
        <p:spPr>
          <a:xfrm>
            <a:off x="0" y="0"/>
            <a:ext cx="12191700" cy="6858000"/>
          </a:xfrm>
          <a:prstGeom prst="roundRect">
            <a:avLst>
              <a:gd fmla="val 1600" name="adj"/>
            </a:avLst>
          </a:prstGeom>
          <a:solidFill>
            <a:srgbClr val="0000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/>
          <p:cNvSpPr/>
          <p:nvPr/>
        </p:nvSpPr>
        <p:spPr>
          <a:xfrm>
            <a:off x="731520" y="1051560"/>
            <a:ext cx="107259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62B"/>
              </a:buClr>
              <a:buSzPts val="3400"/>
              <a:buFont typeface="Arial"/>
              <a:buNone/>
            </a:pPr>
            <a:r>
              <a:rPr b="1" i="0" lang="en-US" sz="4000" u="none" cap="none" strike="noStrike">
                <a:solidFill>
                  <a:srgbClr val="14162B"/>
                </a:solidFill>
                <a:latin typeface="Arial"/>
                <a:ea typeface="Arial"/>
                <a:cs typeface="Arial"/>
                <a:sym typeface="Arial"/>
              </a:rPr>
              <a:t>The human doesn't disappear.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1615288" y="2331720"/>
            <a:ext cx="4206240" cy="3200400"/>
          </a:xfrm>
          <a:prstGeom prst="roundRect">
            <a:avLst>
              <a:gd fmla="val 4571" name="adj"/>
            </a:avLst>
          </a:prstGeom>
          <a:solidFill>
            <a:srgbClr val="000000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user_white.png" id="373" name="Google Shape;3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648" y="269748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/>
          <p:nvPr/>
        </p:nvSpPr>
        <p:spPr>
          <a:xfrm>
            <a:off x="1615288" y="36118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9D6"/>
              </a:buClr>
              <a:buSzPts val="1600"/>
              <a:buFont typeface="Calibri"/>
              <a:buNone/>
            </a:pPr>
            <a:r>
              <a:rPr b="0" i="0" lang="en-US" sz="2600" u="none" cap="none" strike="noStrike">
                <a:solidFill>
                  <a:srgbClr val="FFE9D6"/>
                </a:solidFill>
                <a:latin typeface="Calibri"/>
                <a:ea typeface="Calibri"/>
                <a:cs typeface="Calibri"/>
                <a:sym typeface="Calibri"/>
              </a:rPr>
              <a:t>Engineer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1615288" y="40233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9D6"/>
              </a:buClr>
              <a:buSzPts val="1200"/>
              <a:buFont typeface="Calibri"/>
              <a:buNone/>
            </a:pPr>
            <a:r>
              <a:rPr b="0" i="1" lang="en-US" sz="2200" u="none" cap="none" strike="noStrike">
                <a:solidFill>
                  <a:srgbClr val="FFE9D6"/>
                </a:solidFill>
                <a:latin typeface="Calibri"/>
                <a:ea typeface="Calibri"/>
                <a:cs typeface="Calibri"/>
                <a:sym typeface="Calibri"/>
              </a:rPr>
              <a:t>becomes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1615288" y="434340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 Maker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6370168" y="2331720"/>
            <a:ext cx="4206240" cy="3200400"/>
          </a:xfrm>
          <a:prstGeom prst="roundRect">
            <a:avLst>
              <a:gd fmla="val 4571" name="adj"/>
            </a:avLst>
          </a:prstGeom>
          <a:solidFill>
            <a:srgbClr val="000000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robot_white.png" id="378" name="Google Shape;3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7528" y="269748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8"/>
          <p:cNvSpPr/>
          <p:nvPr/>
        </p:nvSpPr>
        <p:spPr>
          <a:xfrm>
            <a:off x="6370168" y="36118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9D6"/>
              </a:buClr>
              <a:buSzPts val="1600"/>
              <a:buFont typeface="Calibri"/>
              <a:buNone/>
            </a:pPr>
            <a:r>
              <a:rPr b="0" i="0" lang="en-US" sz="2600" u="none" cap="none" strike="noStrike">
                <a:solidFill>
                  <a:srgbClr val="FFE9D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6370168" y="40233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9D6"/>
              </a:buClr>
              <a:buSzPts val="1200"/>
              <a:buFont typeface="Calibri"/>
              <a:buNone/>
            </a:pPr>
            <a:r>
              <a:rPr b="0" i="1" lang="en-US" sz="2200" u="none" cap="none" strike="noStrike">
                <a:solidFill>
                  <a:srgbClr val="FFE9D6"/>
                </a:solidFill>
                <a:latin typeface="Calibri"/>
                <a:ea typeface="Calibri"/>
                <a:cs typeface="Calibri"/>
                <a:sym typeface="Calibri"/>
              </a:rPr>
              <a:t>becomes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6370168" y="434340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Investigator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18" title="icons8-grafana-96__1_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8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E31"/>
                </a:solidFill>
                <a:latin typeface="Calibri"/>
                <a:ea typeface="Calibri"/>
                <a:cs typeface="Calibri"/>
                <a:sym typeface="Calibri"/>
              </a:rPr>
              <a:t>ACT 5 — THE PAYOFF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What's Next?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719176" y="2103120"/>
            <a:ext cx="2468880" cy="2743200"/>
          </a:xfrm>
          <a:prstGeom prst="roundRect">
            <a:avLst>
              <a:gd fmla="val 5185" name="adj"/>
            </a:avLst>
          </a:prstGeom>
          <a:solidFill>
            <a:srgbClr val="1119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856336" y="342900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MCP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3188056" y="3154680"/>
            <a:ext cx="292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3480664" y="2103120"/>
            <a:ext cx="2468880" cy="2743200"/>
          </a:xfrm>
          <a:prstGeom prst="roundRect">
            <a:avLst>
              <a:gd fmla="val 5185" name="adj"/>
            </a:avLst>
          </a:prstGeom>
          <a:solidFill>
            <a:srgbClr val="111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robot_orange.png" id="395" name="Google Shape;3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5064" y="2514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9"/>
          <p:cNvSpPr/>
          <p:nvPr/>
        </p:nvSpPr>
        <p:spPr>
          <a:xfrm>
            <a:off x="3617824" y="342900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5949544" y="3154680"/>
            <a:ext cx="292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6242152" y="2103120"/>
            <a:ext cx="2468880" cy="2743200"/>
          </a:xfrm>
          <a:prstGeom prst="roundRect">
            <a:avLst>
              <a:gd fmla="val 5185" name="adj"/>
            </a:avLst>
          </a:prstGeom>
          <a:solidFill>
            <a:srgbClr val="1019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olt_orange.png" id="399" name="Google Shape;3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6552" y="2514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9"/>
          <p:cNvSpPr/>
          <p:nvPr/>
        </p:nvSpPr>
        <p:spPr>
          <a:xfrm>
            <a:off x="6379312" y="3439702"/>
            <a:ext cx="2194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Incident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8711032" y="3154680"/>
            <a:ext cx="292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6E3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9003640" y="2103120"/>
            <a:ext cx="2468880" cy="2743200"/>
          </a:xfrm>
          <a:prstGeom prst="roundRect">
            <a:avLst>
              <a:gd fmla="val 5185" name="adj"/>
            </a:avLst>
          </a:prstGeom>
          <a:solidFill>
            <a:srgbClr val="1019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wand_orange.png" id="403" name="Google Shape;4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18040" y="2514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9"/>
          <p:cNvSpPr/>
          <p:nvPr/>
        </p:nvSpPr>
        <p:spPr>
          <a:xfrm>
            <a:off x="9140800" y="342900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Self-Healing Systems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438912" y="6345936"/>
            <a:ext cx="91440" cy="91440"/>
          </a:xfrm>
          <a:prstGeom prst="ellipse">
            <a:avLst/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19" title="icons8-grafana-96__1_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1825" y="2636337"/>
            <a:ext cx="791825" cy="74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9" title="Screenshot 2026-07-23 at 8.32.05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50423" y="2514603"/>
            <a:ext cx="1329381" cy="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9" title="Screenshot 2026-07-23 at 8.32.33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11906" y="2503898"/>
            <a:ext cx="1202770" cy="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9" title="Screenshot 2026-07-23 at 8.32.44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73375" y="2476087"/>
            <a:ext cx="1415250" cy="1068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9" title="icons8-grafana-96__1_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9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2B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E3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E31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640080" y="1965960"/>
            <a:ext cx="10908792" cy="868680"/>
          </a:xfrm>
          <a:prstGeom prst="roundRect">
            <a:avLst>
              <a:gd fmla="val 1052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868680" y="2139696"/>
            <a:ext cx="521208" cy="521208"/>
          </a:xfrm>
          <a:prstGeom prst="ellipse">
            <a:avLst/>
          </a:prstGeom>
          <a:solidFill>
            <a:srgbClr val="26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github_orange.png" id="421" name="Google Shape;4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22631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0"/>
          <p:cNvSpPr/>
          <p:nvPr/>
        </p:nvSpPr>
        <p:spPr>
          <a:xfrm>
            <a:off x="1600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repo &amp; slides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1600200" y="240487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9ADC1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github.com/iemafzalhassan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640080" y="2990088"/>
            <a:ext cx="10908792" cy="868680"/>
          </a:xfrm>
          <a:prstGeom prst="roundRect">
            <a:avLst>
              <a:gd fmla="val 1052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868680" y="3163824"/>
            <a:ext cx="521208" cy="521208"/>
          </a:xfrm>
          <a:prstGeom prst="ellipse">
            <a:avLst/>
          </a:prstGeom>
          <a:solidFill>
            <a:srgbClr val="26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1600200" y="308152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MCP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16002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9ADC1"/>
                </a:solidFill>
                <a:latin typeface="Courier New"/>
                <a:ea typeface="Courier New"/>
                <a:cs typeface="Courier New"/>
                <a:sym typeface="Courier New"/>
              </a:rPr>
              <a:t>grafana.com/docs/grafana-cloud/mcp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640080" y="4014216"/>
            <a:ext cx="10908792" cy="868680"/>
          </a:xfrm>
          <a:prstGeom prst="roundRect">
            <a:avLst>
              <a:gd fmla="val 1052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0"/>
          <p:cNvSpPr/>
          <p:nvPr/>
        </p:nvSpPr>
        <p:spPr>
          <a:xfrm>
            <a:off x="868680" y="4187952"/>
            <a:ext cx="521208" cy="521208"/>
          </a:xfrm>
          <a:prstGeom prst="ellipse">
            <a:avLst/>
          </a:prstGeom>
          <a:solidFill>
            <a:srgbClr val="26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0"/>
          <p:cNvSpPr/>
          <p:nvPr/>
        </p:nvSpPr>
        <p:spPr>
          <a:xfrm>
            <a:off x="1600200" y="410565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Antigravity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1600200" y="445312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9ADC1"/>
                </a:solidFill>
                <a:latin typeface="Courier New"/>
                <a:ea typeface="Courier New"/>
                <a:cs typeface="Courier New"/>
                <a:sym typeface="Courier New"/>
              </a:rPr>
              <a:t>the coding agent used in this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640080" y="5038344"/>
            <a:ext cx="10908792" cy="868680"/>
          </a:xfrm>
          <a:prstGeom prst="roundRect">
            <a:avLst>
              <a:gd fmla="val 10526" name="adj"/>
            </a:avLst>
          </a:prstGeom>
          <a:solidFill>
            <a:srgbClr val="1E2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0"/>
          <p:cNvSpPr/>
          <p:nvPr/>
        </p:nvSpPr>
        <p:spPr>
          <a:xfrm>
            <a:off x="868680" y="5212080"/>
            <a:ext cx="521208" cy="521208"/>
          </a:xfrm>
          <a:prstGeom prst="ellipse">
            <a:avLst/>
          </a:prstGeom>
          <a:solidFill>
            <a:srgbClr val="26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opentelemetry_orange.png" id="434" name="Google Shape;4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" y="53355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0"/>
          <p:cNvSpPr/>
          <p:nvPr/>
        </p:nvSpPr>
        <p:spPr>
          <a:xfrm>
            <a:off x="1600200" y="512978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OpenTelemetry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1600200" y="5477256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DC1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9ADC1"/>
                </a:solidFill>
                <a:latin typeface="Courier New"/>
                <a:ea typeface="Courier New"/>
                <a:cs typeface="Courier New"/>
                <a:sym typeface="Courier New"/>
              </a:rPr>
              <a:t>opentelemetry.io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438912" y="6345936"/>
            <a:ext cx="91440" cy="91440"/>
          </a:xfrm>
          <a:prstGeom prst="ellipse">
            <a:avLst/>
          </a:prstGeom>
          <a:solidFill>
            <a:srgbClr val="14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20" title="opentelemetry-icon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7833" y="5296637"/>
            <a:ext cx="365775" cy="365775"/>
          </a:xfrm>
          <a:prstGeom prst="rect">
            <a:avLst/>
          </a:prstGeom>
          <a:solidFill>
            <a:srgbClr val="262A4E"/>
          </a:solidFill>
          <a:ln>
            <a:noFill/>
          </a:ln>
        </p:spPr>
      </p:pic>
      <p:pic>
        <p:nvPicPr>
          <p:cNvPr id="439" name="Google Shape;43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4585" y="4244599"/>
            <a:ext cx="386738" cy="38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3980" y="3213728"/>
            <a:ext cx="426374" cy="42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0200" y="2236441"/>
            <a:ext cx="341025" cy="34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0" title="icons8-grafana-96__1_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0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1"/>
          <p:cNvSpPr/>
          <p:nvPr/>
        </p:nvSpPr>
        <p:spPr>
          <a:xfrm>
            <a:off x="6596577" y="2942299"/>
            <a:ext cx="4278000" cy="886800"/>
          </a:xfrm>
          <a:prstGeom prst="roundRect">
            <a:avLst>
              <a:gd fmla="val 49333" name="adj"/>
            </a:avLst>
          </a:prstGeom>
          <a:solidFill>
            <a:srgbClr val="000000">
              <a:alpha val="5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grad_violet_blue.jpg" id="450" name="Google Shape;4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1"/>
          <p:cNvSpPr/>
          <p:nvPr/>
        </p:nvSpPr>
        <p:spPr>
          <a:xfrm>
            <a:off x="0" y="0"/>
            <a:ext cx="12191700" cy="6858000"/>
          </a:xfrm>
          <a:prstGeom prst="roundRect">
            <a:avLst>
              <a:gd fmla="val 1600" name="adj"/>
            </a:avLst>
          </a:prstGeom>
          <a:solidFill>
            <a:srgbClr val="000000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1"/>
          <p:cNvSpPr/>
          <p:nvPr/>
        </p:nvSpPr>
        <p:spPr>
          <a:xfrm>
            <a:off x="2119050" y="1618850"/>
            <a:ext cx="7953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1634902" y="3639399"/>
            <a:ext cx="4278000" cy="886800"/>
          </a:xfrm>
          <a:prstGeom prst="roundRect">
            <a:avLst>
              <a:gd fmla="val 49333" name="adj"/>
            </a:avLst>
          </a:prstGeom>
          <a:solidFill>
            <a:srgbClr val="000000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1"/>
          <p:cNvSpPr/>
          <p:nvPr/>
        </p:nvSpPr>
        <p:spPr>
          <a:xfrm>
            <a:off x="2658450" y="3739900"/>
            <a:ext cx="307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github.com/iemafzalhassan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21" title="icons8-grafana-96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50" y="6103875"/>
            <a:ext cx="609600" cy="5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1"/>
          <p:cNvSpPr/>
          <p:nvPr/>
        </p:nvSpPr>
        <p:spPr>
          <a:xfrm>
            <a:off x="6387152" y="3639399"/>
            <a:ext cx="4278000" cy="886800"/>
          </a:xfrm>
          <a:prstGeom prst="roundRect">
            <a:avLst>
              <a:gd fmla="val 49333" name="adj"/>
            </a:avLst>
          </a:prstGeom>
          <a:solidFill>
            <a:srgbClr val="000000">
              <a:alpha val="5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 " id="457" name="Google Shape;457;p21" title="User 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7838" y="3748531"/>
            <a:ext cx="685825" cy="6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60875" y="3739975"/>
            <a:ext cx="68582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1"/>
          <p:cNvSpPr/>
          <p:nvPr/>
        </p:nvSpPr>
        <p:spPr>
          <a:xfrm>
            <a:off x="7345425" y="3739900"/>
            <a:ext cx="315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iemafzalhassan.</a:t>
            </a: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822950" y="6048738"/>
            <a:ext cx="33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&amp; friends | </a:t>
            </a:r>
            <a:r>
              <a:rPr b="1" lang="en-US" sz="2100">
                <a:solidFill>
                  <a:srgbClr val="EF5F1C"/>
                </a:solidFill>
                <a:latin typeface="Calibri"/>
                <a:ea typeface="Calibri"/>
                <a:cs typeface="Calibri"/>
                <a:sym typeface="Calibri"/>
              </a:rPr>
              <a:t>Mumbai</a:t>
            </a:r>
            <a:endParaRPr b="1" i="0" sz="2100" u="none" cap="none" strike="noStrike">
              <a:solidFill>
                <a:srgbClr val="EF5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